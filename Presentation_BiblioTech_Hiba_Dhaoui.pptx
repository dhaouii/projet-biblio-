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iblio_report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258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231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BiblioTech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Bibliothèque Intelligente avec Chatbot IA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718304" y="39776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3317A"/>
          </a:solidFill>
          <a:ln/>
        </p:spPr>
      </p:sp>
      <p:sp>
        <p:nvSpPr>
          <p:cNvPr id="6" name="Text 3"/>
          <p:cNvSpPr/>
          <p:nvPr/>
        </p:nvSpPr>
        <p:spPr>
          <a:xfrm>
            <a:off x="4718304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 Semestriel · Python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Réalisé par Hiba Dhaoui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Année universitaire 2025 –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Objectifs du projet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Deux fonctionnalités principales exigées par le cahier des charges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25400" dir="5400000">
              <a:srgbClr val="9C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6" name="Image 0" descr="/tmp/biblio_report/assets/boo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57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Gestion CRUD des livres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05840" y="306324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Ajouter, afficher, modifier, supprimer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Rechercher par titre, auteur, catégorie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 de couverture pour chaque livre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Données stockées dans SQLite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55448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451610000" dist="322580000" dir="324000000000">
              <a:srgbClr val="9CA3AF">
                <a:alpha val="22000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192024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EDE9FE"/>
          </a:solidFill>
          <a:ln/>
        </p:spPr>
      </p:sp>
      <p:pic>
        <p:nvPicPr>
          <p:cNvPr id="11" name="Image 1" descr="/tmp/biblio_report/assets/sparkle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595" y="21287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62672" y="2057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Chatbot intelligent (IA)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656832" y="306324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Comprend les questions en langage naturel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Répond à partir des données réelles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Propulsé par Google Gemini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 hors-ligne de secours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Choix technologiques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Application développée entièrement en Python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8435447000000" dist="4096766000000" dir="19440000000000000">
              <a:srgbClr val="9CA3AF">
                <a:alpha val="22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3.13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Langage imposé par le cahier des charges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34130176900000000" dist="52028928200000000" dir="1.1664e+21">
              <a:srgbClr val="9CA3AF">
                <a:alpha val="2200000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4096" y="21031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05409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62656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CustomTkinter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62656" y="3429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 graphique moderne et soignée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10912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97345324663e+21" dist="660767388140000000000" dir="6.9984e+25">
              <a:srgbClr val="9CA3AF">
                <a:alpha val="2.2e+2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85232" y="21031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93792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SQLite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3792" y="3429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relationnelle légère, fichier unique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42048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7762856232201e+25" dist="8.391745829378e+24" dir="4.19904e+30">
              <a:srgbClr val="9CA3AF">
                <a:alpha val="2.2e+2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16368" y="21031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51636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24928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24928" y="3429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IA générative, langage naturel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3184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795882741489527e+29" dist="1.0657517203310059e+29" dir="2.519424e+35">
              <a:srgbClr val="9CA3AF">
                <a:alpha val="2.2e+3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47504" y="21031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974750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56064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Pillow (PIL)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56064" y="34290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Icônes vectorielles et couvertures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en couches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Séparation des responsabilités pour une maintenance facilitée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.090771081691699e+33" dist="1.3535046848203775e+33" dir="1.5116544e+40">
              <a:srgbClr val="9CA3AF">
                <a:alpha val="2.2e+3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 utilisateur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0" y="169164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Affiche les données et transmet les 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735279273748459e+37" dist="1.7189509497218795e+37" dir="9.069926400000001e+44">
              <a:srgbClr val="9CA3AF">
                <a:alpha val="2.2e+4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24328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2432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89120" y="2624328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Cœur fonctionnel : validation et logique métier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823804677660543e+41" dist="2.183067706146787e+41" dir="5.44195584e+49">
              <a:srgbClr val="9CA3AF">
                <a:alpha val="2.2e+4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57016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55701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Modèles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9120" y="3557016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Objets métiers (classe Book)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247623194062889e+46" dist="2.7724959868064195e+45" dir="3.2651735040000005e+54">
              <a:srgbClr val="9CA3AF">
                <a:alpha val="2.2e+5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489704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897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de données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4489704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Seul composant communiquant avec SQLite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5844814564598688e+50" dist="3.5210699032441527e+49" dir="1.9591041024000004e+59">
              <a:srgbClr val="9CA3AF">
                <a:alpha val="2.2e+5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422392"/>
            <a:ext cx="146304" cy="777240"/>
          </a:xfrm>
          <a:prstGeom prst="roundRect">
            <a:avLst>
              <a:gd name="adj" fmla="val 3125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42239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Chatbot IA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389120" y="5422392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Interactions avec Google Gemini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Implémentation du CRUD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 opérations fondamentales de gestion des données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0122914497040333e+54" dist="4.471758777120074e+53" dir="1.1754624614400003e+64">
              <a:srgbClr val="9CA3AF">
                <a:alpha val="2.2e+6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296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6" name="Image 0" descr="/tmp/biblio_report/assets/plu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861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Ajouter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Formulaire validé + couverture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79776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5556101411241224e+58" dist="5.679133646942494e+57" dir="7.052774768640002e+68">
              <a:srgbClr val="9CA3AF">
                <a:alpha val="2.2e+6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11" name="Image 1" descr="/tmp/biblio_report/assets/catalogu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997" y="23244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71216" y="30632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916936" y="356616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Affichage en cartes modernes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10912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2456248792276356e+62" dist="7.212499731616968e+61" dir="4.2316648611840007e+73">
              <a:srgbClr val="9CA3AF">
                <a:alpha val="2.2e+74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87568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16" name="Image 2" descr="/tmp/biblio_report/assets/pencil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33" y="232440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2352" y="30632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Modifier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148072" y="356616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Formulaire pré-rempli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42048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121943596619097e+66" dist="9.15987465915355e+65" dir="2.5389989167104004e+78">
              <a:srgbClr val="9CA3AF">
                <a:alpha val="2.2000000000000002e+79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18704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21" name="Image 3" descr="/tmp/biblio_report/assets/trash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269" y="232440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3488" y="30632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Supprimer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79208" y="356616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Confirmation obligatoire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473184" y="18288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.2348683677062537e+70" dist="1.1633040817125008e+70" dir="1.5233993500262402e+83">
              <a:srgbClr val="9CA3AF">
                <a:alpha val="2.2000000000000003e+84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49840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26" name="Image 4" descr="/tmp/biblio_report/assets/search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405" y="232440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64624" y="30632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Rechercher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610344" y="356616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Filtres titre / auteur / statut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Chatbot intelligent — approche RAG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Retrieval Augmented Generation : l'IA répond depuis les données réelles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.648282826986942e+74" dist="1.477396183774876e+74" dir="9.14039610015744e+87">
              <a:srgbClr val="9CA3AF">
                <a:alpha val="2.2000000000000003e+8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331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Récupération des livres depuis SQLite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2011680"/>
            <a:ext cx="246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355848" y="20116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.443319190273415e+78" dist="1.8762931533940924e+78" dir="5.484237660094465e+92">
              <a:srgbClr val="9CA3AF">
                <a:alpha val="2.2e+9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2331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361688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47288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38728" y="35661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Mise en forme en texte pour l'IA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16168" y="2011680"/>
            <a:ext cx="246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163056" y="20116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0723015371647238e+83" dist="2.3828923048104974e+82" dir="3.2905425960566786e+97">
              <a:srgbClr val="9CA3AF">
                <a:alpha val="2.2000000000000003e+9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68896" y="2331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54496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45936" y="35661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Contexte + question de l'utilisateur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23376" y="2011680"/>
            <a:ext cx="246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970264" y="201168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3618229521991992e+87" dist="3.0262732271093317e+86" dir="1.9743255576340073e+102">
              <a:srgbClr val="9CA3AF">
                <a:alpha val="2.2000000000000003e+10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76104" y="23317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976104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61704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Réponse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53144" y="35661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 génère une réponse naturelle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Sécurité &amp; gestion des rôles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729515149292983e+91" dist="3.8433669984288512e+90" dir="1.1845953345804043e+107">
              <a:srgbClr val="9CA3AF">
                <a:alpha val="2.2000000000000003e+109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2024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5" name="Image 0" descr="/tmp/biblio_report/asset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1067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0116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Mécanismes de sécurité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29260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Mots de passe hachés en SHA-256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Requêtes SQL paramétrées (anti-injection)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Clé API jamais codée en dur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exclue du dépôt git (.gitignore)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Gestion des exceptions réseau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76672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1964842396020885e+95" dist="4.8810760880046414e+94" dir="7.107572007482426e+111">
              <a:srgbClr val="9CA3AF">
                <a:alpha val="2.2000000000000003e+114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965960"/>
            <a:ext cx="685800" cy="685800"/>
          </a:xfrm>
          <a:prstGeom prst="roundRect">
            <a:avLst>
              <a:gd name="adj" fmla="val 28000"/>
            </a:avLst>
          </a:prstGeom>
          <a:solidFill>
            <a:srgbClr val="EDE9FE"/>
          </a:solidFill>
          <a:ln/>
        </p:spPr>
      </p:sp>
      <p:pic>
        <p:nvPicPr>
          <p:cNvPr id="10" name="Image 1" descr="/tmp/biblio_report/assets/shield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13055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Administrateur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43800" y="23317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Tous les droits : gestion des livres, statistiques, configuration du chatbot, journaux d'activité.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3767328"/>
            <a:ext cx="5376672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7895349842946525e+99" dist="6.198966631765894e+98" dir="4.2645432044894554e+116">
              <a:srgbClr val="9CA3AF">
                <a:alpha val="2.2000000000000005e+119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29400" y="4178808"/>
            <a:ext cx="685800" cy="68580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15" name="Image 2" descr="/tmp/biblio_report/assets/us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343400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4087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Lecteur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543800" y="45445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Accès en consultation uniquement : catalogue et chatbot. Aucune modification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 graphique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moderne inspiré des tableaux de bord professionnels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542709430054209e+103" dist="7.872687622342685e+102" dir="2.5587259226936733e+121">
              <a:srgbClr val="9CA3AF">
                <a:alpha val="2.2000000000000006e+12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6" name="Image 0" descr="/tmp/biblio_report/assets/dash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842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Tableau de bord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Statistiques + derniers ajouts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4992409761688454e+107" dist="9.998313280375211e+106" dir="1.535235553616204e+126">
              <a:srgbClr val="9CA3AF">
                <a:alpha val="2.2000000000000006e+12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96596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11" name="Image 1" descr="/tmp/biblio_report/assets/catalogu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573" y="21415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19842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Catalogue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50408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Cartes-livres + filtres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600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.714036039734434e+111" dist="1.2697857866076517e+111" dir="9.211413321697224e+130">
              <a:srgbClr val="9CA3AF">
                <a:alpha val="2.2000000000000004e+134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196596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FF6FF"/>
          </a:solidFill>
          <a:ln/>
        </p:spPr>
      </p:sp>
      <p:pic>
        <p:nvPicPr>
          <p:cNvPr id="16" name="Image 2" descr="/tmp/biblio_report/assets/gestion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1415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7736" y="19842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Gestion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17736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Espace CRUD administrateur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256825770462731e+115" dist="1.6126279489917177e+115" dir="5.526847993018334e+135">
              <a:srgbClr val="9CA3AF">
                <a:alpha val="2.2000000000000005e+139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11480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EDE9FE"/>
          </a:solidFill>
          <a:ln/>
        </p:spPr>
      </p:sp>
      <p:pic>
        <p:nvPicPr>
          <p:cNvPr id="21" name="Image 3" descr="/tmp/biblio_report/assets/cha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42903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33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Chatbot flottant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83080" y="46177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Assistant IA accessible partout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15968" y="37490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216168728487668e+119" dist="2.0480374952194813e+119" dir="3.3161087958110005e+140">
              <a:srgbClr val="9CA3AF">
                <a:alpha val="2.2000000000000006e+144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11480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/>
        </p:spPr>
      </p:sp>
      <p:pic>
        <p:nvPicPr>
          <p:cNvPr id="26" name="Image 4" descr="/tmp/biblio_report/asset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73" y="429036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0408" y="4133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Connexion &amp; rôles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550408" y="46177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Authentification sécurisée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83296" y="37490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1704534285179338e+124" dist="2.6010076189287412e+123" dir="1.9896652774866004e+145">
              <a:srgbClr val="9CA3AF">
                <a:alpha val="2.2000000000000004e+149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3336" y="411480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FEDD5"/>
          </a:solidFill>
          <a:ln/>
        </p:spPr>
      </p:sp>
      <p:pic>
        <p:nvPicPr>
          <p:cNvPr id="31" name="Image 5" descr="/tmp/biblio_report/assets/boo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901" y="4290365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7736" y="4133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Couvertures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317736" y="46177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 personnalisée par livre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application Python complète, moderne et sécurisée, répondant à toutes les exigences du cahier des charges.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331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4000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lignes de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46888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3317A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tables relationnelles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46888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3317A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chatbot IA (Gemini)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4800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Merci de votre attention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0" y="53949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Réalisé par Hiba Dhaoui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2026-06-06T09:53:37Z</dcterms:created>
  <dcterms:modified xsi:type="dcterms:W3CDTF">2026-06-06T09:53:37Z</dcterms:modified>
</cp:coreProperties>
</file>